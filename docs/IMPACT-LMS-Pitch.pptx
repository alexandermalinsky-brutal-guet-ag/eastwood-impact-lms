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spPr>
            <a:solidFill>
              <a:srgbClr val="5254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254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ED9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2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D9C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5A6B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1B6C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Imagination</c:v>
                  </c:pt>
                  <c:pt idx="1">
                    <c:v>Movement</c:v>
                  </c:pt>
                  <c:pt idx="2">
                    <c:v>Planet</c:v>
                  </c:pt>
                  <c:pt idx="3">
                    <c:v>Action</c:v>
                  </c:pt>
                  <c:pt idx="4">
                    <c:v>Character</c:v>
                  </c:pt>
                  <c:pt idx="5">
                    <c:v>Technologies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11</c:v>
                </c:pt>
                <c:pt idx="2">
                  <c:v>11</c:v>
                </c:pt>
                <c:pt idx="3">
                  <c:v>14</c:v>
                </c:pt>
                <c:pt idx="4">
                  <c:v>11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494C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The programme is fully designed in the handbook; this is the platform that runs it. Everything shown is live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not ambition — the handbook is thorough. It is infrastructure. The workbook numbers are as extracted on 7 September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strands spell IMPACT. Each carries one colour from the secondary palette. Counts are lead-strand counts; six workbook projects still have no strand.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slide: the platform is not a designer's interpretation of IMPACT. It is IMPACT's own documents, made operational.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dark block is the gate. That distinction matters to coaches: nothing gets to execution without a human saying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one of these maps to a named structure in the handbook. The scorecard dimensions are the handbook's five,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'gaps' view is deliberate: 61 unled projects is a management fact, and the platform makes it visible instead of quietly assigning someone.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92 = 87 from the workbook + 5 illustrative kickoff projects from the handbook. 70 practices = 58 from the workbook + 3 source documents + 9 evidence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Forest Green here is the handbook's Planet colour used semantically for 'verified'. Each of these was actually performed in the build session, on a real Postgres.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here on purpose. A pitch that only shows what works invites the question of what is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pilot is the point of the ninety days. Everything before it is preparation; everything after it depends on what the pilot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decisions, not on the product. Cost: Vercel hobby and Neon free tiers. Scaling beyond the pilot would move to paid tiers — small, but budget it then.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malinsky/Projects/impact-lms-pitch/assets/mark-lightpurpl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583680" y="-548640"/>
            <a:ext cx="3291840" cy="3566160"/>
          </a:xfrm>
          <a:prstGeom prst="rect">
            <a:avLst/>
          </a:prstGeom>
        </p:spPr>
      </p:pic>
      <p:pic>
        <p:nvPicPr>
          <p:cNvPr id="3" name="Image 1" descr="/Users/alexandermalinsky/Projects/impact-lms-pitch/assets/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6692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" y="475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EASTWOOD MONTREUX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1143000" y="731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SCHOOL</a:t>
            </a:r>
            <a:endParaRPr lang="en-US" sz="8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874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IMAGINATION · MOVEMENT · PLANET · ACTION · CHARACTER · TECHNOLOGIES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6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for the programme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pitch to school leadership and the IMPACT team ·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programme designed for a four-stage journey, run on a spreadsheet.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060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 Handbook specifies proposals, approval, SMART goals, a Commitment Charter, two kinds of scorecard, and an Impact Profile that feeds the Eastwood Passport.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that has anywhere to live. The planning workbook holds ideas and names — not a single student's proposal, goal or reflection.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577840" y="777240"/>
            <a:ext cx="3108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06440" y="88696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960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ideas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workbook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2011680"/>
            <a:ext cx="3108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06440" y="212140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194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person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3246120"/>
            <a:ext cx="31089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06440" y="335584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 at all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 International School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where a student's project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runs.</a:t>
            </a:r>
            <a:endParaRPr lang="en-US" sz="2800" dirty="0"/>
          </a:p>
        </p:txBody>
      </p:sp>
      <p:pic>
        <p:nvPicPr>
          <p:cNvPr id="4" name="Image 0" descr="/Users/alexandermalinsky/Projects/impact-lms-pitch/assets/live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04672" y="18562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eastwood-impact-lms.vercel.app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2128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Live, in production, on the school's brand. Sign-in for staff; students next.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788920"/>
            <a:ext cx="1298448" cy="1508760"/>
          </a:xfrm>
          <a:prstGeom prst="rect">
            <a:avLst/>
          </a:prstGeom>
          <a:solidFill>
            <a:srgbClr val="5254BE"/>
          </a:solidFill>
          <a:ln w="12700">
            <a:solidFill>
              <a:srgbClr val="5254B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350215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Imagination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82219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projects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47088" y="2788920"/>
            <a:ext cx="1298448" cy="1508760"/>
          </a:xfrm>
          <a:prstGeom prst="rect">
            <a:avLst/>
          </a:prstGeom>
          <a:solidFill>
            <a:srgbClr val="CED93B"/>
          </a:solidFill>
          <a:ln w="12700">
            <a:solidFill>
              <a:srgbClr val="CED93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84248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30A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1984248" y="350215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1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984248" y="382219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2130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projects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36976" y="2788920"/>
            <a:ext cx="1298448" cy="1508760"/>
          </a:xfrm>
          <a:prstGeom prst="rect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74136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3374136" y="350215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Planet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374136" y="382219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projects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26864" y="2788920"/>
            <a:ext cx="1298448" cy="1508760"/>
          </a:xfrm>
          <a:prstGeom prst="rect">
            <a:avLst/>
          </a:prstGeom>
          <a:solidFill>
            <a:srgbClr val="CD9C00"/>
          </a:solidFill>
          <a:ln w="12700">
            <a:solidFill>
              <a:srgbClr val="CD9C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64024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300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4764024" y="350215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4764024" y="382219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300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projects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16752" y="2788920"/>
            <a:ext cx="1298448" cy="1508760"/>
          </a:xfrm>
          <a:prstGeom prst="rect">
            <a:avLst/>
          </a:prstGeom>
          <a:solidFill>
            <a:srgbClr val="65A6BA"/>
          </a:solidFill>
          <a:ln w="12700">
            <a:solidFill>
              <a:srgbClr val="65A6B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53912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518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6153912" y="350215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153912" y="382219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518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projects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406640" y="2788920"/>
            <a:ext cx="1298448" cy="1508760"/>
          </a:xfrm>
          <a:prstGeom prst="rect">
            <a:avLst/>
          </a:prstGeom>
          <a:solidFill>
            <a:srgbClr val="01B6C9"/>
          </a:solidFill>
          <a:ln w="12700">
            <a:solidFill>
              <a:srgbClr val="01B6C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543800" y="289864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71A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543800" y="350215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7543800" y="3822192"/>
            <a:ext cx="106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71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projects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 definitions and colours are the handbook's and the artwork sheet's — nothing invented.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 International School</a:t>
            </a:r>
            <a:endParaRPr lang="en-US" sz="850" dirty="0"/>
          </a:p>
        </p:txBody>
      </p:sp>
      <p:sp>
        <p:nvSpPr>
          <p:cNvPr id="33" name="Text 30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three documents the school already owns.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51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6" name="Image 0" descr="/Users/alexandermalinsky/Projects/impact-lms-pitch/assets/handboo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20967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 Handbook, Vol. 1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089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 definitions verbatim. The four stages, goal types, scorecard dimensions and progression phases are the handbook's, not paraphrased. Where it and the workbook disagree, the handbook wins.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737360"/>
            <a:ext cx="2651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965960"/>
            <a:ext cx="502920" cy="50292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11" name="Image 1" descr="/Users/alexandermalinsky/Projects/impact-lms-pitch/assets/databas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9" y="20967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planning workbook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31089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and practice is generated from it by a script that logs all 87 normalisations it makes and refuses to guess a strand or an owner. Edit the sheet, re-run, review the diff.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737360"/>
            <a:ext cx="265176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63640" y="1965960"/>
            <a:ext cx="502920" cy="50292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16" name="Image 2" descr="/Users/alexandermalinsky/Projects/impact-lms-pitch/assets/security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399" y="209671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Standards / Artwork Sheet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31089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logo paths are lifted from the vector file. Every colour on the platform is on the sheet. The rule in the code: add a colour to the sheet before adding it to the app.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 International School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 JOURNEY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stages, the same at every grade.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with readiness is scope, ambition and independence — not the structure.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659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Ideation &amp; Feedback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Explore, frame the problem, gather feedback.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WITH A PROJECT PROPOSAL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0" y="1828800"/>
            <a:ext cx="1965960" cy="2377440"/>
          </a:xfrm>
          <a:prstGeom prst="rect">
            <a:avLst/>
          </a:prstGeom>
          <a:solidFill>
            <a:srgbClr val="000077"/>
          </a:solidFill>
          <a:ln w="9525">
            <a:solidFill>
              <a:srgbClr val="00007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&amp; Commitments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approval, 3–5 SMART goals, the Charter.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GATE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828800"/>
            <a:ext cx="19659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Execution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sessions, reflection logs, mini-showcases.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LONGEST PHASE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828800"/>
            <a:ext cx="19659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&amp; Evaluation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154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outcome, portfolio, panel, scorecards.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FEEDS THE IMPACT PROFILE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is enforced in code, not just the interface — a student cannot move themselves through approval.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 International School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handbook's tools, made usable.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5" name="Image 0" descr="/Users/alexandermalinsky/Projects/impact-lms-pitch/assets/propos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6276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490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&amp; Charter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8013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idea, internal and external impact, targeted strands, feasibility. Then a signed commitment to see it through.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1508760"/>
            <a:ext cx="457200" cy="45720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9" name="Image 1" descr="/Users/alexandermalinsky/Projects/impact-lms-pitch/assets/goal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2763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40480" y="1490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goals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3840480" y="18013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to five, typed as deliverable, milestone or qualitative growth — with a warning when the set is unbalanced.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35040" y="1508760"/>
            <a:ext cx="457200" cy="45720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13" name="Image 2" descr="/Users/alexandermalinsky/Projects/impact-lms-pitch/assets/kanba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627632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29400" y="149047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board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6629400" y="180136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Backlog, doing, review, done. The team's own core practice, one board per project.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17" name="Image 3" descr="/Users/alexandermalinsky/Projects/impact-lms-pitch/assets/reflect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18211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3044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Act · Reflect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1051560" y="335584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entry per cycle, ending with a further question. The record shown at demo time.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46120" y="3063240"/>
            <a:ext cx="457200" cy="45720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21" name="Image 4" descr="/Users/alexandermalinsky/Projects/impact-lms-pitch/assets/scorecar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182112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840480" y="3044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scorecard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3840480" y="335584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Bi-monthly self-reflection across five dimensions. Read by a coach — explicitly not a self-grade.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035040" y="3063240"/>
            <a:ext cx="457200" cy="45720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25" name="Image 5" descr="/Users/alexandermalinsky/Projects/impact-lms-pitch/assets/profile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3182112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629400" y="3044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Profile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6629400" y="335584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 coverage, goals achieved, coach and self ratings side by side. Not a grade — the input to the Passport.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 International School</a:t>
            </a:r>
            <a:endParaRPr lang="en-US" sz="850" dirty="0"/>
          </a:p>
        </p:txBody>
      </p:sp>
      <p:sp>
        <p:nvSpPr>
          <p:cNvPr id="29" name="Text 21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COACHES AND THE IMPACT TEAM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students are actually going —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which parts of the plan still need a person.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411480" cy="411480"/>
          </a:xfrm>
          <a:prstGeom prst="ellipse">
            <a:avLst/>
          </a:prstGeom>
          <a:solidFill>
            <a:srgbClr val="000077"/>
          </a:solidFill>
          <a:ln w="12700">
            <a:solidFill>
              <a:srgbClr val="000077"/>
            </a:solidFill>
            <a:prstDash val="solid"/>
          </a:ln>
        </p:spPr>
      </p:sp>
      <p:pic>
        <p:nvPicPr>
          <p:cNvPr id="5" name="Image 0" descr="/Users/alexandermalinsky/Projects/impact-lms-pitch/assets/rost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5" y="1981505"/>
            <a:ext cx="197510" cy="1975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8562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Take-up by project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1122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projects students are choosing, who has joined, and how far each has got.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532888"/>
            <a:ext cx="411480" cy="411480"/>
          </a:xfrm>
          <a:prstGeom prst="ellipse">
            <a:avLst/>
          </a:prstGeom>
          <a:solidFill>
            <a:srgbClr val="000077"/>
          </a:solidFill>
          <a:ln w="12700">
            <a:solidFill>
              <a:srgbClr val="000077"/>
            </a:solidFill>
            <a:prstDash val="solid"/>
          </a:ln>
        </p:spPr>
      </p:sp>
      <p:pic>
        <p:nvPicPr>
          <p:cNvPr id="9" name="Image 1" descr="/Users/alexandermalinsky/Projects/impact-lms-pitch/assets/approva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5" y="2639873"/>
            <a:ext cx="197510" cy="19751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2514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and coach scorecards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005840" y="27706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proposals, move projects between stages, complete the twice-monthly Coach Scorecard.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3191256"/>
            <a:ext cx="411480" cy="411480"/>
          </a:xfrm>
          <a:prstGeom prst="ellipse">
            <a:avLst/>
          </a:prstGeom>
          <a:solidFill>
            <a:srgbClr val="000077"/>
          </a:solidFill>
          <a:ln w="12700">
            <a:solidFill>
              <a:srgbClr val="000077"/>
            </a:solidFill>
            <a:prstDash val="solid"/>
          </a:ln>
        </p:spPr>
      </p:sp>
      <p:pic>
        <p:nvPicPr>
          <p:cNvPr id="13" name="Image 2" descr="/Users/alexandermalinsky/Projects/impact-lms-pitch/assets/gap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5" y="3298241"/>
            <a:ext cx="197510" cy="19751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31729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in the plan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1005840" y="3429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projects with no point person and no strand, surfaced rather than hidden — nothing here is a system error, it is work not yet done.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849624"/>
            <a:ext cx="411480" cy="411480"/>
          </a:xfrm>
          <a:prstGeom prst="ellipse">
            <a:avLst/>
          </a:prstGeom>
          <a:solidFill>
            <a:srgbClr val="000077"/>
          </a:solidFill>
          <a:ln w="12700">
            <a:solidFill>
              <a:srgbClr val="000077"/>
            </a:solidFill>
            <a:prstDash val="solid"/>
          </a:ln>
        </p:spPr>
      </p:sp>
      <p:pic>
        <p:nvPicPr>
          <p:cNvPr id="17" name="Image 3" descr="/Users/alexandermalinsky/Projects/impact-lms-pitch/assets/handboo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5" y="3956609"/>
            <a:ext cx="197510" cy="19751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05840" y="3831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Handbook, toolkit and evidence base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1005840" y="40873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programme's structures as a reference, 70 practices, and the nine research works the handbook cites.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 International School</a:t>
            </a:r>
            <a:endParaRPr lang="en-US" sz="850" dirty="0"/>
          </a:p>
        </p:txBody>
      </p:sp>
      <p:sp>
        <p:nvSpPr>
          <p:cNvPr id="21" name="Text 15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malinsky/Projects/impact-lms-pitch/assets/mark-lightpurpl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583680" y="-548640"/>
            <a:ext cx="3291840" cy="3566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NUMBERS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31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 the menu today.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463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017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works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794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3794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by lead strand</a:t>
            </a:r>
            <a:endParaRPr lang="en-US" sz="11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840480" y="1691640"/>
          <a:ext cx="4846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3931920" y="45262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projects from the workbook have no strand yet and are not in the chart.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 International School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Verified, not just built.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pic>
        <p:nvPicPr>
          <p:cNvPr id="5" name="Image 0" descr="/Users/alexandermalinsky/Projects/impact-lms-pitch/assets/liv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52" y="1517172"/>
            <a:ext cx="184343" cy="184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13990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165506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from GitHub; every push ships automatically. Database in the EU (Frankfurt).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384048" cy="384048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pic>
        <p:nvPicPr>
          <p:cNvPr id="9" name="Image 1" descr="/Users/alexandermalinsky/Projects/impact-lms-pitch/assets/approva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52" y="215725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0120" y="20391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end to end on a real database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229514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Proposal, approval gate, charter, goals, kanban, reflections and scorecards all persist — exercised, not assumed.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pic>
        <p:nvPicPr>
          <p:cNvPr id="13" name="Image 2" descr="/Users/alexandermalinsky/Projects/impact-lms-pitch/assets/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2797332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60120" y="26791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enforced on every write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960120" y="293522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guessed id cannot reach another student's board. Role gating keeps students out of staff views. Verified by attempting it.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337560"/>
            <a:ext cx="384048" cy="384048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pic>
        <p:nvPicPr>
          <p:cNvPr id="17" name="Image 3" descr="/Users/alexandermalinsky/Projects/impact-lms-pitch/assets/databas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52" y="3437412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60120" y="33192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migrations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960120" y="357530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changes are reviewed SQL files, applied identically to a fresh database and an existing one.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3977640"/>
            <a:ext cx="384048" cy="384048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pic>
        <p:nvPicPr>
          <p:cNvPr id="21" name="Image 4" descr="/Users/alexandermalinsky/Projects/impact-lms-pitch/assets/security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052" y="4077492"/>
            <a:ext cx="184343" cy="1843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0120" y="39593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invented from the data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960120" y="421538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strandless projects and 61 unled ones are shown as such. The extractor logs every normalisation for audit.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 International School</a:t>
            </a:r>
            <a:endParaRPr lang="en-US" sz="850" dirty="0"/>
          </a:p>
        </p:txBody>
      </p:sp>
      <p:sp>
        <p:nvSpPr>
          <p:cNvPr id="25" name="Text 18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HONESTLY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not built yet.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in the handbook or the plan; deliberately not improvised.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128016" cy="128016"/>
          </a:xfrm>
          <a:prstGeom prst="ellipse">
            <a:avLst/>
          </a:prstGeom>
          <a:solidFill>
            <a:srgbClr val="CD9C00"/>
          </a:solidFill>
          <a:ln w="12700">
            <a:solidFill>
              <a:srgbClr val="CD9C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 sign-in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933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Coded and domain-restricted; needs OAuth credentials from the Workspace admin. Twenty minutes.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801368"/>
            <a:ext cx="128016" cy="128016"/>
          </a:xfrm>
          <a:prstGeom prst="ellipse">
            <a:avLst/>
          </a:prstGeom>
          <a:solidFill>
            <a:srgbClr val="CD9C00"/>
          </a:solidFill>
          <a:ln w="12700">
            <a:solidFill>
              <a:srgbClr val="CD9C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Eastwood Passport export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933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 Profile exists; exporting it as a document into the student's Drive does not.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15768"/>
            <a:ext cx="128016" cy="128016"/>
          </a:xfrm>
          <a:prstGeom prst="ellipse">
            <a:avLst/>
          </a:prstGeom>
          <a:solidFill>
            <a:srgbClr val="CD9C00"/>
          </a:solidFill>
          <a:ln w="12700">
            <a:solidFill>
              <a:srgbClr val="CD9C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Mini-showcases and Coach Council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9077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named cadences in the handbook. Neither has a workflow on the platform yet.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715768"/>
            <a:ext cx="128016" cy="128016"/>
          </a:xfrm>
          <a:prstGeom prst="ellipse">
            <a:avLst/>
          </a:prstGeom>
          <a:solidFill>
            <a:srgbClr val="CD9C00"/>
          </a:solidFill>
          <a:ln w="12700">
            <a:solidFill>
              <a:srgbClr val="CD9C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mentors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9077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coaching role in the handbook with no account type yet.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30168"/>
            <a:ext cx="128016" cy="128016"/>
          </a:xfrm>
          <a:prstGeom prst="ellipse">
            <a:avLst/>
          </a:prstGeom>
          <a:solidFill>
            <a:srgbClr val="CD9C00"/>
          </a:solidFill>
          <a:ln w="12700">
            <a:solidFill>
              <a:srgbClr val="CD9C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547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coach with the handbook as context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8221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on Vertex AI in the school's Google Cloud, so student data stays under enterprise terms. Not started.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630168"/>
            <a:ext cx="128016" cy="128016"/>
          </a:xfrm>
          <a:prstGeom prst="ellipse">
            <a:avLst/>
          </a:prstGeom>
          <a:solidFill>
            <a:srgbClr val="CD9C00"/>
          </a:solidFill>
          <a:ln w="12700">
            <a:solidFill>
              <a:srgbClr val="CD9C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3547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Pitch Builder as the Stage 1 on-ramp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82219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interview tool exists; wiring its output into a student's proposal is a natural next step.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 International School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ninety days.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door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 sign-in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accounts, one each, no shared passwords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the 6 strandless projects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owners for the unled projects that matter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51760" cy="3017520"/>
          </a:xfrm>
          <a:prstGeom prst="rect">
            <a:avLst/>
          </a:prstGeom>
          <a:solidFill>
            <a:srgbClr val="000077"/>
          </a:solidFill>
          <a:ln w="9525">
            <a:solidFill>
              <a:srgbClr val="00007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664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one cohort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774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class runs a full Stage 1 → 2 on the platform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complete two scorecard rounds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Builder feeds the proposal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what confuses students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51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664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Widen and deepen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3774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to the year group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 on Vertex AI, if approved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export as a Google Doc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Mini-showcase and Coach Council workflows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 International School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malinsky/Projects/impact-lms-pitch/assets/mark-lightpurpl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583680" y="-548640"/>
            <a:ext cx="3291840" cy="3566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NEEDED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only the school can decide.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Workspace admin for twenty minutes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create the Google OAuth client. Everything else on the sign-in side is already coded.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257800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pilot cohort and a lead coach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25780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class, one term, on the platform. Real students find what a build session cannot.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3008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access to students' AI conversations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3337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Safeguarding argues yes; privacy argues for a stated policy either way. Decide before the AI coach exists, not after.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257800" y="30083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in the school's Google Cloud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257800" y="33375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route that keeps minors' reflections under enterprise data terms. Free Gemini tiers do not.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cost today: CHF 0 a month, on free tiers. That holds through the pilot.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 International School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— the platform for the programme</dc:title>
  <dc:subject>PptxGenJS Presentation</dc:subject>
  <dc:creator>Eastwood Montreux</dc:creator>
  <cp:lastModifiedBy>Eastwood Montreux</cp:lastModifiedBy>
  <cp:revision>1</cp:revision>
  <dcterms:created xsi:type="dcterms:W3CDTF">2026-09-14T13:41:56Z</dcterms:created>
  <dcterms:modified xsi:type="dcterms:W3CDTF">2026-09-14T13:41:56Z</dcterms:modified>
</cp:coreProperties>
</file>