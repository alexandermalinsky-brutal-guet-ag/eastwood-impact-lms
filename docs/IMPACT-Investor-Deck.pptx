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here, then go straight to the live site. The product is the pitch — do not read slides at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this in Eastwood's own case — it is the example you can speak to with authority. Let the investor generalise.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argument: the thing worth teaching changed, so the thing worth measuring changed, and nobody built the tool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verbs, one spine. This is the whole product in one slide — do not elaborate, the demo does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investor asks 'why can't anyone build this' — this slide. The answer is the framework and the data, not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this slide up while you demo. Sign-in: s.ferrand@demo.eastwoodmontreux.ch / impact-demo-2026. Admin: demo@demo.eastwoodmontreux.ch. Say plainly that the cohort is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'One month' is real: first commit 7 September, production 8 October. Do not inflate it — it is impressive as stated.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12-month line is the real story: framework-agnostic means the addressable market is every school running CAS, MYP, DofE or its own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did not invent a TAM. A fabricated market figure in an investor deck is worse than a gap — you get caught on it in diligence.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only fill one box tonight, fill 'how much and what it buys'. Never end a pitch without a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slide — drop it if the room is short. But pre-empting the objection usually wins more credibility than dodging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them the URL and let them click it themselves. Student: s.ferrand@demo.eastwoodmontreux.ch / impact-demo-2026. Admin: demo@demo.eastwoodmontreux.ch /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pic>
        <p:nvPicPr>
          <p:cNvPr id="3" name="Image 1" descr="/Users/alexandermalinsky/Projects/impact-lms-pitch/assets/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6692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" y="475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 MONTREUX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731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SCHOOL</a:t>
            </a:r>
            <a:endParaRPr lang="en-US" sz="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5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system for project-based learning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today at eastwood-impact-lms.vercel.app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deployed and running in a Swiss international school.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are told to teach judgment and initiative. They track it on spreadsheets.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 learning is spreading fast because employers and universities now ask what a student has actually done. But the moment a school commits to it, the same thing happens: the programme is designed properly, and then run on a shared sheet, a chat group and a folder of documents.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49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connects. A student's proposal, their goals, their reflections and their coach's assessment live in four places, owned by nobody, lost at the end of the year.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577840" y="822960"/>
            <a:ext cx="3108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06440" y="9144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9875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 single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touches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2011680"/>
            <a:ext cx="3108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2103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17627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them talk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each other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577840" y="3200400"/>
            <a:ext cx="31089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32918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yr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3649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record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lost entirely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made content worthless and evidence valuable.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6" name="Image 1" descr="/Users/alexandermalinsky/Projects/impact-lms-pitch/assets/ai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19072"/>
            <a:ext cx="219456" cy="219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1560" y="1618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delivery is commoditised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051560" y="191109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answers the questions schools used to set. What it cannot do is show that a sixteen-year-old ran something real and finished it.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0" name="Image 2" descr="/Users/alexandermalinsky/Projects/impact-lms-pitch/assets/profi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7063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670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 are shifting to portfolios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1051560" y="296265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Universities and employers increasingly ask for demonstrated capability. Schools have no infrastructure to produce that record.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4" name="Image 3" descr="/Users/alexandermalinsky/Projects/impact-lms-pitch/assets/liv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82219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51560" y="3721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exist; the tooling does not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1051560" y="401421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Schools are writing serious project-learning frameworks. They are then handed a generic LMS built for courses, grades and deadlines.</a:t>
            </a:r>
            <a:endParaRPr lang="en-US" sz="115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18" name="Text 1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place where a student's project actually runs — proposal to panel.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121408"/>
            <a:ext cx="402336" cy="402336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6" name="Image 0" descr="/Users/alexandermalinsky/Projects/impact-lms-pitch/assets/propos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975" y="2226015"/>
            <a:ext cx="193121" cy="1931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70432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70432" y="24048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idea, intended impact, strands, feasibility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92024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47288" y="2121408"/>
            <a:ext cx="402336" cy="402336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1" name="Image 1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895" y="2226015"/>
            <a:ext cx="193121" cy="1931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59352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959352" y="24048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 gates it. Nothing proceeds unreviewed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92024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36208" y="2121408"/>
            <a:ext cx="402336" cy="402336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16" name="Image 2" descr="/Users/alexandermalinsky/Projects/impact-lms-pitch/assets/goal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0815" y="2226015"/>
            <a:ext cx="193121" cy="1931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48272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748272" y="240487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SMART goals and a signed charter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24612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3447288"/>
            <a:ext cx="402336" cy="402336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21" name="Image 3" descr="/Users/alexandermalinsky/Projects/impact-lms-pitch/assets/kanba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5" y="3551895"/>
            <a:ext cx="193121" cy="1931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70432" y="3447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1170432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 board, weekly sessions, evidence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324612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47288" y="3447288"/>
            <a:ext cx="402336" cy="402336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26" name="Image 4" descr="/Users/alexandermalinsky/Projects/impact-lms-pitch/assets/reflec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895" y="3551895"/>
            <a:ext cx="193121" cy="1931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959352" y="3447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3959352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· Act · Reflect, cycle after cycle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3246120"/>
            <a:ext cx="26517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36208" y="3447288"/>
            <a:ext cx="402336" cy="402336"/>
          </a:xfrm>
          <a:prstGeom prst="ellipse">
            <a:avLst/>
          </a:prstGeom>
          <a:solidFill>
            <a:srgbClr val="500591"/>
          </a:solidFill>
          <a:ln w="12700">
            <a:solidFill>
              <a:srgbClr val="500591"/>
            </a:solidFill>
            <a:prstDash val="solid"/>
          </a:ln>
        </p:spPr>
      </p:sp>
      <p:pic>
        <p:nvPicPr>
          <p:cNvPr id="31" name="Image 5" descr="/Users/alexandermalinsky/Projects/impact-lms-pitch/assets/profile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0815" y="3551895"/>
            <a:ext cx="193121" cy="193121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748272" y="34472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6748272" y="373075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Impact Profile that follows the student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35" name="Text 2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SPINE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generic LMS with projects bolted on.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is a direct implementation of a published pedagogical framework — a 99-page handbook grounded in nine cited research works. Every structure in the software exists because the framework specifies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298448" cy="1188720"/>
          </a:xfrm>
          <a:prstGeom prst="rect">
            <a:avLst/>
          </a:prstGeom>
          <a:solidFill>
            <a:srgbClr val="5254BE"/>
          </a:solidFill>
          <a:ln w="12700">
            <a:solidFill>
              <a:srgbClr val="5254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85216" y="290779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47088" y="2194560"/>
            <a:ext cx="1298448" cy="1188720"/>
          </a:xfrm>
          <a:prstGeom prst="rect">
            <a:avLst/>
          </a:prstGeom>
          <a:solidFill>
            <a:srgbClr val="CED93B"/>
          </a:solidFill>
          <a:ln w="12700">
            <a:solidFill>
              <a:srgbClr val="CED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75104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30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975104" y="290779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13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36976" y="2194560"/>
            <a:ext cx="1298448" cy="1188720"/>
          </a:xfrm>
          <a:prstGeom prst="rect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64992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364992" y="290779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26864" y="2194560"/>
            <a:ext cx="1298448" cy="1188720"/>
          </a:xfrm>
          <a:prstGeom prst="rect">
            <a:avLst/>
          </a:prstGeom>
          <a:solidFill>
            <a:srgbClr val="CD9C00"/>
          </a:solidFill>
          <a:ln w="12700">
            <a:solidFill>
              <a:srgbClr val="CD9C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300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90779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16752" y="2194560"/>
            <a:ext cx="1298448" cy="1188720"/>
          </a:xfrm>
          <a:prstGeom prst="rect">
            <a:avLst/>
          </a:prstGeom>
          <a:solidFill>
            <a:srgbClr val="65A6BA"/>
          </a:solidFill>
          <a:ln w="12700">
            <a:solidFill>
              <a:srgbClr val="65A6B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44768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518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144768" y="290779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406640" y="2194560"/>
            <a:ext cx="1298448" cy="1188720"/>
          </a:xfrm>
          <a:prstGeom prst="rect">
            <a:avLst/>
          </a:prstGeom>
          <a:solidFill>
            <a:srgbClr val="01B6C9"/>
          </a:solidFill>
          <a:ln w="12700">
            <a:solidFill>
              <a:srgbClr val="01B6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34656" y="2286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71A">
                    <a:alpha val="4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7534656" y="2907792"/>
            <a:ext cx="1069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17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Imagination · Movement · Planet · Action · Character · Technologies — the six strands every project is assessed against.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000077"/>
          </a:solidFill>
          <a:ln w="12700">
            <a:solidFill>
              <a:srgbClr val="00007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404164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framework is the moat. Anyone can build a kanban board; the defensibility is in encoding a school's actual pedagogy — and in being the system of record once a student's evidence lives there.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eastwood-impact-lms.vercel.app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minutes. Real software, real database, sample cohort.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1773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 as a student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794760" y="17922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Sofia Ferrand, Grade 12, Legacy phase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865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her project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794760" y="23957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Proposal, approval, charter, goals, board, two reflection cycles, both scorecards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990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29809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Impact Profile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2999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Strand coverage, coach ratings beside her own — a portfolio, not a grade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5935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3584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the coach view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794760" y="360273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Take-up across the cohort, and the gaps in the programme nobody could see before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197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68680" y="4187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handbook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794760" y="4206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every structure in the product comes from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IS TODAY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Shipped, not a prototype.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727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month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nothing to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0" y="15727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in the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5727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~10k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lines, 12 reviewed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1417320"/>
            <a:ext cx="19659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15727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CHF 0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103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running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so far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10896" cy="310896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17" name="Image 0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033" y="3098353"/>
            <a:ext cx="149230" cy="14923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86968" y="29992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3657600" y="30083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on every push. Database in the EU.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3474720"/>
            <a:ext cx="310896" cy="310896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21" name="Image 1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33" y="3555553"/>
            <a:ext cx="149230" cy="14923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86968" y="34564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end to end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3657600" y="34655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Proposal, approval gate, charter, goals, reflections and scorecards all persist — tested, not assumed.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25" name="Image 2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33" y="4012753"/>
            <a:ext cx="149230" cy="14923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6968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enforced server-side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3657600" y="39227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 checked on every write; a guessed id cannot reach another student's work.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57200" y="4389120"/>
            <a:ext cx="310896" cy="310896"/>
          </a:xfrm>
          <a:prstGeom prst="ellipse">
            <a:avLst/>
          </a:prstGeom>
          <a:solidFill>
            <a:srgbClr val="006242"/>
          </a:solidFill>
          <a:ln w="12700">
            <a:solidFill>
              <a:srgbClr val="006242"/>
            </a:solidFill>
            <a:prstDash val="solid"/>
          </a:ln>
        </p:spPr>
      </p:sp>
      <p:pic>
        <p:nvPicPr>
          <p:cNvPr id="29" name="Image 3" descr="/Users/alexandermalinsky/Projects/impact-lms-pitch/assets/approval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33" y="4469953"/>
            <a:ext cx="149230" cy="14923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86968" y="43708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design partner in place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3657600" y="43799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 Montreux: the framework author and the first deployment.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NEXT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one school to many.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18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→ 90 DAYS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it with a cohort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317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Workspace sign-in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Team-based projects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year group live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evidence and portfolio export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51760" cy="3063240"/>
          </a:xfrm>
          <a:prstGeom prst="rect">
            <a:avLst/>
          </a:prstGeom>
          <a:solidFill>
            <a:srgbClr val="000077"/>
          </a:solidFill>
          <a:ln w="9525">
            <a:solidFill>
              <a:srgbClr val="00007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618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a product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317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Multi-school tenancy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 grounded in each school's own framework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editable in-app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Passport export for admissions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5176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6184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the record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317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and third school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Framework-agnostic: IB CAS, MYP, Duke of Edinburgh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students take with them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has this problem, and what they pay.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your numbers, not ours to estimate. Fill them before you present — an investor will ask within the first two minutes.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697480"/>
          </a:xfrm>
          <a:prstGeom prst="rect">
            <a:avLst/>
          </a:prstGeom>
          <a:solidFill>
            <a:srgbClr val="F6F5FA"/>
          </a:solidFill>
          <a:ln w="12700">
            <a:solidFill>
              <a:srgbClr val="CD9C0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20208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COMPLETE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04872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schools run a structured project programme (IB CAS/MYP, DofE, own framework)?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are in your reachable segment — international, independent, region?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currently spend on LMS and student-record software?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are the incumbents, and why do they lose here?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2697480"/>
          </a:xfrm>
          <a:prstGeom prst="rect">
            <a:avLst/>
          </a:prstGeom>
          <a:solidFill>
            <a:srgbClr val="F6F5FA"/>
          </a:solidFill>
          <a:ln w="12700">
            <a:solidFill>
              <a:srgbClr val="CD9C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93776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0208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COMPLETE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04872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Per-school licence, per-student seat, or per-programme?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annual price for a 600-student school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motion: founder-led, reseller, through the IB ecosystem?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year one of revenue look like?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AND THE ASK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building it, and what you need.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card here is real: the framework's authors and the first school are the same people. Say that explicitly.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023360" cy="2697480"/>
          </a:xfrm>
          <a:prstGeom prst="rect">
            <a:avLst/>
          </a:prstGeom>
          <a:solidFill>
            <a:srgbClr val="F6F5FA"/>
          </a:solidFill>
          <a:ln w="12700">
            <a:solidFill>
              <a:srgbClr val="CD9C00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71800" y="20208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COMPLETE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04872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Founders, and why this team specifically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pedagogical authority — who wrote the handbook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building it going forward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or design-partner schools already committed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2697480"/>
          </a:xfrm>
          <a:prstGeom prst="rect">
            <a:avLst/>
          </a:prstGeom>
          <a:solidFill>
            <a:srgbClr val="F6F5FA"/>
          </a:solidFill>
          <a:ln w="12700">
            <a:solidFill>
              <a:srgbClr val="CD9C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4937760" y="1984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02082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200" kern="0" dirty="0">
                <a:solidFill>
                  <a:srgbClr val="CD9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COMPLETE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2404872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are you raising?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buy — engineers, months of runway, how many schools?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milestone does it get you to?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you asking of this investor beyond money?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ASK IF WE WERE YOU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hard questions.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910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“Isn't this a feature of an existing LMS?”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865376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the opposite shape. An LMS is built around courses, grades and deadlines. This is built around a project, a coach and a body of evidence — and the assessment model is explicitly not a grade. Retrofitting that into a gradebook is harder than building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542032"/>
            <a:ext cx="82296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70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“One school is not a market.”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9443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and that is what the next ninety days are for. The point of this build is that the framework sits in configuration, not in code — the bet is that it generalises to CAS, MYP and DofE. That bet is unproven and we would treat it as the key risk.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621024"/>
            <a:ext cx="8229600" cy="93268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749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00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“Schools do not buy software.”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4023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Slowly, and on annual cycles. The counter is that this starts inside a school that already owns the programme, which removes the hardest part of the sale: convincing anyone the pedagogy is worth running.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these yourself is stronger than being asked. Adjust the answers to what you actually believe.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andermalinsky/Projects/impact-lms-pitch/assets/mark-lightpurpl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6583680" y="-548640"/>
            <a:ext cx="3291840" cy="3566160"/>
          </a:xfrm>
          <a:prstGeom prst="rect">
            <a:avLst/>
          </a:prstGeom>
        </p:spPr>
      </p:pic>
      <p:pic>
        <p:nvPicPr>
          <p:cNvPr id="3" name="Image 1" descr="/Users/alexandermalinsky/Projects/impact-lms-pitch/assets/ma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66928" cy="6126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17373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that leave</a:t>
            </a:r>
            <a:endParaRPr lang="en-US" sz="38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behind.</a:t>
            </a:r>
            <a:endParaRPr lang="en-US" sz="38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30632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programme already exists. The platform is live. What is missing is the next ten schools.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39502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eastwood-impact-lms.vercel.app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39502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the room — credentials in the speaker notes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773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Eastwood Montreux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494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— investor deck</dc:title>
  <dc:subject>PptxGenJS Presentation</dc:subject>
  <dc:creator>Eastwood Montreux</dc:creator>
  <cp:lastModifiedBy>Eastwood Montreux</cp:lastModifiedBy>
  <cp:revision>1</cp:revision>
  <dcterms:created xsi:type="dcterms:W3CDTF">2026-10-09T08:52:40Z</dcterms:created>
  <dcterms:modified xsi:type="dcterms:W3CDTF">2026-10-09T08:52:40Z</dcterms:modified>
</cp:coreProperties>
</file>